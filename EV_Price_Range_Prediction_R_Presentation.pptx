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79" r:id="rId4"/>
    <p:sldId id="258" r:id="rId5"/>
    <p:sldId id="259" r:id="rId6"/>
    <p:sldId id="260" r:id="rId7"/>
    <p:sldId id="28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1" r:id="rId17"/>
    <p:sldId id="269" r:id="rId18"/>
    <p:sldId id="270" r:id="rId19"/>
    <p:sldId id="282" r:id="rId20"/>
    <p:sldId id="271" r:id="rId21"/>
    <p:sldId id="272" r:id="rId22"/>
    <p:sldId id="273" r:id="rId23"/>
    <p:sldId id="274" r:id="rId24"/>
    <p:sldId id="275" r:id="rId25"/>
    <p:sldId id="283" r:id="rId26"/>
    <p:sldId id="276" r:id="rId27"/>
    <p:sldId id="277" r:id="rId28"/>
    <p:sldId id="278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1236" y="-4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C892F-3DCA-4A51-A4BC-8E571D6A30C5}" type="datetimeFigureOut">
              <a:rPr lang="en-US" smtClean="0"/>
              <a:t>07-Oct-26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5674F-6879-416E-9033-6713F3BD0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66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92608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tx1"/>
                </a:solidFill>
              </a:rPr>
              <a:t>Electric Vehicle Price and Range Prediction Using R</a:t>
            </a:r>
            <a:endParaRPr lang="en-US" sz="3800" dirty="0">
              <a:solidFill>
                <a:schemeClr val="tx1"/>
              </a:solidFill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640080" y="29260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Kavipriyadharsan P  |  Roll No: 717825Z129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II MCA, Sem III, Section A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Karpagam College of Engineering, Coimbatore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 Mini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Statement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Buying an electric vehicle (EV) is a big decision: price and driving range depend on battery size, speed, acceleration and charging power.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With hundreds of models on the market, it is hard to tell whether a car's price or range is reasonable for its specifications.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problem is to build predictive models that estimate (A) the driving range in km and (B) the price in euros from the technical specifications.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Such predictions help buyers compare models and help manufacturers position new cars.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Objectives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11" name="objective card 1"/>
          <p:cNvSpPr/>
          <p:nvPr/>
        </p:nvSpPr>
        <p:spPr>
          <a:xfrm>
            <a:off x="457200" y="1143000"/>
            <a:ext cx="4023360" cy="141732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CFE0D9"/>
            </a:solidFill>
            <a:prstDash val="solid"/>
          </a:ln>
        </p:spPr>
      </p:sp>
      <p:sp>
        <p:nvSpPr>
          <p:cNvPr id="12" name="objective number 1"/>
          <p:cNvSpPr txBox="1"/>
          <p:nvPr/>
        </p:nvSpPr>
        <p:spPr>
          <a:xfrm>
            <a:off x="640080" y="1280160"/>
            <a:ext cx="4114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000" b="1" dirty="0">
                <a:latin typeface="Cambria"/>
                <a:ea typeface="Cambria"/>
                <a:cs typeface="Cambria"/>
              </a:rPr>
              <a:t>1</a:t>
            </a:r>
            <a:endParaRPr lang="en-US" sz="3000" dirty="0"/>
          </a:p>
        </p:txBody>
      </p:sp>
      <p:sp>
        <p:nvSpPr>
          <p:cNvPr id="13" name="objective text 1"/>
          <p:cNvSpPr txBox="1"/>
          <p:nvPr/>
        </p:nvSpPr>
        <p:spPr>
          <a:xfrm>
            <a:off x="1188720" y="12801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700" b="1" dirty="0">
                <a:latin typeface="Cambria"/>
                <a:ea typeface="Cambria"/>
                <a:cs typeface="Cambria"/>
              </a:rPr>
              <a:t>Predict Range</a:t>
            </a:r>
            <a:endParaRPr lang="en-US" sz="17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300" dirty="0"/>
              <a:t>Estimate the driving range (km) from Battery, Fast_charge, Top_speed and Acceleration.</a:t>
            </a:r>
          </a:p>
        </p:txBody>
      </p:sp>
      <p:sp>
        <p:nvSpPr>
          <p:cNvPr id="14" name="objective card 2"/>
          <p:cNvSpPr/>
          <p:nvPr/>
        </p:nvSpPr>
        <p:spPr>
          <a:xfrm>
            <a:off x="4663440" y="1143000"/>
            <a:ext cx="4023360" cy="141732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CFE0D9"/>
            </a:solidFill>
            <a:prstDash val="solid"/>
          </a:ln>
        </p:spPr>
      </p:sp>
      <p:sp>
        <p:nvSpPr>
          <p:cNvPr id="15" name="objective number 2"/>
          <p:cNvSpPr txBox="1"/>
          <p:nvPr/>
        </p:nvSpPr>
        <p:spPr>
          <a:xfrm>
            <a:off x="4846320" y="1280160"/>
            <a:ext cx="4114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000" b="1" dirty="0">
                <a:latin typeface="Cambria"/>
                <a:ea typeface="Cambria"/>
                <a:cs typeface="Cambria"/>
              </a:rPr>
              <a:t>2</a:t>
            </a:r>
            <a:endParaRPr lang="en-US" sz="3000" dirty="0"/>
          </a:p>
        </p:txBody>
      </p:sp>
      <p:sp>
        <p:nvSpPr>
          <p:cNvPr id="16" name="objective text 2"/>
          <p:cNvSpPr txBox="1"/>
          <p:nvPr/>
        </p:nvSpPr>
        <p:spPr>
          <a:xfrm>
            <a:off x="5394960" y="12801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700" b="1" dirty="0">
                <a:latin typeface="Cambria"/>
                <a:ea typeface="Cambria"/>
                <a:cs typeface="Cambria"/>
              </a:rPr>
              <a:t>Predict Price</a:t>
            </a:r>
            <a:endParaRPr lang="en-US" sz="17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300" dirty="0"/>
              <a:t>Estimate the German list price (euros) from all the technical specifications.</a:t>
            </a:r>
          </a:p>
        </p:txBody>
      </p:sp>
      <p:sp>
        <p:nvSpPr>
          <p:cNvPr id="17" name="objective card 3"/>
          <p:cNvSpPr/>
          <p:nvPr/>
        </p:nvSpPr>
        <p:spPr>
          <a:xfrm>
            <a:off x="457200" y="2743200"/>
            <a:ext cx="4023360" cy="141732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CFE0D9"/>
            </a:solidFill>
            <a:prstDash val="solid"/>
          </a:ln>
        </p:spPr>
      </p:sp>
      <p:sp>
        <p:nvSpPr>
          <p:cNvPr id="18" name="objective number 3"/>
          <p:cNvSpPr txBox="1"/>
          <p:nvPr/>
        </p:nvSpPr>
        <p:spPr>
          <a:xfrm>
            <a:off x="640080" y="2880360"/>
            <a:ext cx="4114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000" b="1" dirty="0">
                <a:latin typeface="Cambria"/>
                <a:ea typeface="Cambria"/>
                <a:cs typeface="Cambria"/>
              </a:rPr>
              <a:t>3</a:t>
            </a:r>
            <a:endParaRPr lang="en-US" sz="3000" dirty="0"/>
          </a:p>
        </p:txBody>
      </p:sp>
      <p:sp>
        <p:nvSpPr>
          <p:cNvPr id="19" name="objective text 3"/>
          <p:cNvSpPr txBox="1"/>
          <p:nvPr/>
        </p:nvSpPr>
        <p:spPr>
          <a:xfrm>
            <a:off x="1188720" y="28803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700" b="1" dirty="0">
                <a:latin typeface="Cambria"/>
                <a:ea typeface="Cambria"/>
                <a:cs typeface="Cambria"/>
              </a:rPr>
              <a:t>Compare Models</a:t>
            </a:r>
            <a:endParaRPr lang="en-US" sz="17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300" dirty="0"/>
              <a:t>Build Linear Regression, Decision Tree and Random Forest and compare them using RMSE, MAE and R-squared.</a:t>
            </a:r>
          </a:p>
        </p:txBody>
      </p:sp>
      <p:sp>
        <p:nvSpPr>
          <p:cNvPr id="20" name="objective card 4"/>
          <p:cNvSpPr/>
          <p:nvPr/>
        </p:nvSpPr>
        <p:spPr>
          <a:xfrm>
            <a:off x="4663440" y="2743200"/>
            <a:ext cx="4023360" cy="141732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CFE0D9"/>
            </a:solidFill>
            <a:prstDash val="solid"/>
          </a:ln>
        </p:spPr>
      </p:sp>
      <p:sp>
        <p:nvSpPr>
          <p:cNvPr id="21" name="objective number 4"/>
          <p:cNvSpPr txBox="1"/>
          <p:nvPr/>
        </p:nvSpPr>
        <p:spPr>
          <a:xfrm>
            <a:off x="4846320" y="2880360"/>
            <a:ext cx="4114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000" b="1" dirty="0">
                <a:latin typeface="Cambria"/>
                <a:ea typeface="Cambria"/>
                <a:cs typeface="Cambria"/>
              </a:rPr>
              <a:t>4</a:t>
            </a:r>
            <a:endParaRPr lang="en-US" sz="3000" dirty="0"/>
          </a:p>
        </p:txBody>
      </p:sp>
      <p:sp>
        <p:nvSpPr>
          <p:cNvPr id="22" name="objective text 4"/>
          <p:cNvSpPr txBox="1"/>
          <p:nvPr/>
        </p:nvSpPr>
        <p:spPr>
          <a:xfrm>
            <a:off x="5394960" y="28803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700" b="1" dirty="0">
                <a:latin typeface="Cambria"/>
                <a:ea typeface="Cambria"/>
                <a:cs typeface="Cambria"/>
              </a:rPr>
              <a:t>Find Key Drivers</a:t>
            </a:r>
            <a:endParaRPr lang="en-US" sz="17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300" dirty="0"/>
              <a:t>Find which specifications matter most, using correlation and Random Forest feature importance.</a:t>
            </a:r>
          </a:p>
        </p:txBody>
      </p:sp>
      <p:sp>
        <p:nvSpPr>
          <p:cNvPr id="23" name="dataset note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i="1" dirty="0"/>
              <a:t>Dataset: 360 electric vehicles, 9 columns (Kaggle, originally ev-database.org). Targets: Range (km) and Price (euros).</a:t>
            </a:r>
            <a:endParaRPr lang="en-US" sz="12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Loading Dataset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5" name="caption"/>
          <p:cNvSpPr txBox="1"/>
          <p:nvPr/>
        </p:nvSpPr>
        <p:spPr>
          <a:xfrm>
            <a:off x="2244233" y="4158762"/>
            <a:ext cx="4703886" cy="473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 smtClean="0"/>
              <a:t>First </a:t>
            </a:r>
            <a:r>
              <a:rPr lang="en-US" sz="1200" b="1" i="1" dirty="0"/>
              <a:t>six rows of the dataset (source: Kaggle, originally ev-database.org).</a:t>
            </a:r>
            <a:endParaRPr lang="en-US" sz="12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8" name="code panel"/>
          <p:cNvSpPr/>
          <p:nvPr/>
        </p:nvSpPr>
        <p:spPr>
          <a:xfrm>
            <a:off x="1670538" y="1037492"/>
            <a:ext cx="5864470" cy="3042139"/>
          </a:xfrm>
          <a:prstGeom prst="roundRect">
            <a:avLst>
              <a:gd name="adj" fmla="val 8889"/>
            </a:avLst>
          </a:prstGeom>
          <a:solidFill>
            <a:srgbClr val="F3F6F5"/>
          </a:solidFill>
          <a:ln w="12700">
            <a:solidFill>
              <a:srgbClr val="D5E2DD"/>
            </a:solidFill>
            <a:prstDash val="solid"/>
          </a:ln>
        </p:spPr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029" y="1152231"/>
            <a:ext cx="5387487" cy="2812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Anatomy of our Dataset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/>
              <a:t>Dimensions</a:t>
            </a:r>
            <a:endParaRPr lang="en-US" sz="2000" dirty="0"/>
          </a:p>
        </p:txBody>
      </p:sp>
      <p:sp>
        <p:nvSpPr>
          <p:cNvPr id="4" name="bullets"/>
          <p:cNvSpPr txBox="1"/>
          <p:nvPr/>
        </p:nvSpPr>
        <p:spPr>
          <a:xfrm>
            <a:off x="457200" y="16459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/>
              <a:t>360 rows (cars) and 9 columns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/>
              <a:t>Source: Kaggle dataset repository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/>
              <a:t>Targets: Range (km) and Price (euros)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/>
              <a:t>Price is the German list price (Price.DE.)</a:t>
            </a:r>
          </a:p>
        </p:txBody>
      </p:sp>
      <p:sp>
        <p:nvSpPr>
          <p:cNvPr id="5" name="code panel"/>
          <p:cNvSpPr/>
          <p:nvPr/>
        </p:nvSpPr>
        <p:spPr>
          <a:xfrm>
            <a:off x="457200" y="3840480"/>
            <a:ext cx="2171700" cy="822960"/>
          </a:xfrm>
          <a:prstGeom prst="roundRect">
            <a:avLst>
              <a:gd name="adj" fmla="val 8889"/>
            </a:avLst>
          </a:prstGeom>
          <a:solidFill>
            <a:srgbClr val="F3F6F5"/>
          </a:solidFill>
          <a:ln w="12700">
            <a:solidFill>
              <a:srgbClr val="D5E2DD"/>
            </a:solidFill>
            <a:prstDash val="solid"/>
          </a:ln>
        </p:spPr>
      </p:sp>
      <p:sp>
        <p:nvSpPr>
          <p:cNvPr id="6" name="code text"/>
          <p:cNvSpPr txBox="1"/>
          <p:nvPr/>
        </p:nvSpPr>
        <p:spPr>
          <a:xfrm>
            <a:off x="594360" y="3931920"/>
            <a:ext cx="18586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/>
              <a:t>Features</a:t>
            </a:r>
            <a:endParaRPr lang="en-US" sz="2000" dirty="0"/>
          </a:p>
        </p:txBody>
      </p:sp>
      <p:sp>
        <p:nvSpPr>
          <p:cNvPr id="8" name="code panel"/>
          <p:cNvSpPr/>
          <p:nvPr/>
        </p:nvSpPr>
        <p:spPr>
          <a:xfrm>
            <a:off x="5099538" y="1645920"/>
            <a:ext cx="2409093" cy="2194560"/>
          </a:xfrm>
          <a:prstGeom prst="roundRect">
            <a:avLst>
              <a:gd name="adj" fmla="val 2424"/>
            </a:avLst>
          </a:prstGeom>
          <a:solidFill>
            <a:srgbClr val="F3F6F5"/>
          </a:solidFill>
          <a:ln w="12700">
            <a:solidFill>
              <a:srgbClr val="D5E2DD"/>
            </a:solidFill>
            <a:prstDash val="solid"/>
          </a:ln>
        </p:spPr>
      </p:sp>
      <p:sp>
        <p:nvSpPr>
          <p:cNvPr id="9" name="code text"/>
          <p:cNvSpPr txBox="1"/>
          <p:nvPr/>
        </p:nvSpPr>
        <p:spPr>
          <a:xfrm>
            <a:off x="5099538" y="1737361"/>
            <a:ext cx="240909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260" y="1702630"/>
            <a:ext cx="2015648" cy="2081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3998692"/>
            <a:ext cx="1858694" cy="55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r>
              <a:rPr lang="en-US" sz="3000" b="1" dirty="0">
                <a:solidFill>
                  <a:schemeClr val="tx1"/>
                </a:solidFill>
              </a:rPr>
              <a:t> and Summary of the Dataset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3" name="code panel"/>
          <p:cNvSpPr/>
          <p:nvPr/>
        </p:nvSpPr>
        <p:spPr>
          <a:xfrm>
            <a:off x="457199" y="1188719"/>
            <a:ext cx="4255477" cy="2600765"/>
          </a:xfrm>
          <a:prstGeom prst="roundRect">
            <a:avLst>
              <a:gd name="adj" fmla="val 2759"/>
            </a:avLst>
          </a:prstGeom>
          <a:solidFill>
            <a:srgbClr val="F3F6F5"/>
          </a:solidFill>
          <a:ln w="12700">
            <a:solidFill>
              <a:srgbClr val="D5E2DD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594360" y="1280160"/>
            <a:ext cx="3840480" cy="2043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721" y="1323680"/>
            <a:ext cx="3986432" cy="2330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code panel"/>
          <p:cNvSpPr/>
          <p:nvPr/>
        </p:nvSpPr>
        <p:spPr>
          <a:xfrm>
            <a:off x="5108330" y="1039251"/>
            <a:ext cx="3410830" cy="3559126"/>
          </a:xfrm>
          <a:prstGeom prst="roundRect">
            <a:avLst>
              <a:gd name="adj" fmla="val 2759"/>
            </a:avLst>
          </a:prstGeom>
          <a:solidFill>
            <a:srgbClr val="F3F6F5"/>
          </a:solidFill>
          <a:ln w="12700">
            <a:solidFill>
              <a:srgbClr val="D5E2DD"/>
            </a:solidFill>
            <a:prstDash val="solid"/>
          </a:ln>
        </p:spPr>
      </p:sp>
      <p:sp>
        <p:nvSpPr>
          <p:cNvPr id="11" name="code text"/>
          <p:cNvSpPr txBox="1"/>
          <p:nvPr/>
        </p:nvSpPr>
        <p:spPr>
          <a:xfrm>
            <a:off x="5108330" y="1188720"/>
            <a:ext cx="3593709" cy="3007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502" y="1315036"/>
            <a:ext cx="2892486" cy="3007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caption"/>
          <p:cNvSpPr txBox="1"/>
          <p:nvPr/>
        </p:nvSpPr>
        <p:spPr>
          <a:xfrm>
            <a:off x="5028027" y="1039251"/>
            <a:ext cx="35075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/>
              <a:t>Output of summary(</a:t>
            </a:r>
            <a:r>
              <a:rPr lang="en-US" sz="1100" b="1" i="1" dirty="0" err="1"/>
              <a:t>ev</a:t>
            </a:r>
            <a:r>
              <a:rPr lang="en-US" sz="1100" b="1" i="1" dirty="0" smtClean="0"/>
              <a:t>):</a:t>
            </a:r>
            <a:endParaRPr lang="en-US" sz="11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 Structures Used in the Project</a:t>
            </a:r>
            <a:endParaRPr lang="en-US" sz="3000" dirty="0">
              <a:solidFill>
                <a:schemeClr val="tx1"/>
              </a:solidFill>
            </a:endParaRPr>
          </a:p>
        </p:txBody>
      </p:sp>
      <p:graphicFrame>
        <p:nvGraphicFramePr>
          <p:cNvPr id="11" name="data structures table"/>
          <p:cNvGraphicFramePr>
            <a:graphicFrameLocks noGrp="1"/>
          </p:cNvGraphicFramePr>
          <p:nvPr/>
        </p:nvGraphicFramePr>
        <p:xfrm>
          <a:off x="457200" y="1143000"/>
          <a:ext cx="8229600" cy="27432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457200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is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Where it is used in this project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302B"/>
                          </a:solidFill>
                        </a:rPr>
                        <a:t>Vector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One-dimensional, one data type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A single column such as ev$Range or ev$Price (360 values); c() lists of feature names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302B"/>
                          </a:solidFill>
                        </a:rPr>
                        <a:t>Matrix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Two-dimensional, one data type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Correlation matrix of the numeric columns (shown as a heat map)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302B"/>
                          </a:solidFill>
                        </a:rPr>
                        <a:t>Data frame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Table with mixed column types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ev (360 rows x 9 columns); trainA / testA and trainB / testB after the 80/20 split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302B"/>
                          </a:solidFill>
                        </a:rPr>
                        <a:t>List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Container for mixed objects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Fitted model objects (lm, rpart, ranger) and the evaluation results are stored as lists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302B"/>
                          </a:solidFill>
                        </a:rPr>
                        <a:t>Factor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Categorical variable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Brand, taken from the first word of Car_name, used for grouping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al time card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CFE0D9"/>
            </a:solidFill>
            <a:prstDash val="solid"/>
          </a:ln>
        </p:spPr>
        <p:txBody>
          <a:bodyPr wrap="square" lIns="118872" tIns="118872" rIns="118872" bIns="118872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 dirty="0"/>
              <a:t>Real-time use:</a:t>
            </a:r>
            <a:r>
              <a:rPr lang="en-US" sz="1300" dirty="0"/>
              <a:t> an EV comparison website keeps every car as a row in a data frame and predicts price or range for each new model.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Stage 1: Data Cleaning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/>
              <a:t>Checking missing values and duplicates</a:t>
            </a:r>
            <a:endParaRPr lang="en-US" sz="1800" dirty="0"/>
          </a:p>
        </p:txBody>
      </p:sp>
      <p:sp>
        <p:nvSpPr>
          <p:cNvPr id="4" name="code panel"/>
          <p:cNvSpPr/>
          <p:nvPr/>
        </p:nvSpPr>
        <p:spPr>
          <a:xfrm>
            <a:off x="993530" y="1689880"/>
            <a:ext cx="3640015" cy="2377440"/>
          </a:xfrm>
          <a:prstGeom prst="roundRect">
            <a:avLst>
              <a:gd name="adj" fmla="val 2857"/>
            </a:avLst>
          </a:prstGeom>
          <a:solidFill>
            <a:srgbClr val="F3F6F5"/>
          </a:solidFill>
          <a:ln w="12700">
            <a:solidFill>
              <a:srgbClr val="D5E2DD"/>
            </a:solidFill>
            <a:prstDash val="solid"/>
          </a:ln>
        </p:spPr>
      </p:sp>
      <p:sp>
        <p:nvSpPr>
          <p:cNvPr id="5" name="code text"/>
          <p:cNvSpPr txBox="1"/>
          <p:nvPr/>
        </p:nvSpPr>
        <p:spPr>
          <a:xfrm>
            <a:off x="594360" y="16459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bullets"/>
          <p:cNvSpPr txBox="1"/>
          <p:nvPr/>
        </p:nvSpPr>
        <p:spPr>
          <a:xfrm>
            <a:off x="5486400" y="155448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Fast_charge: 2 missing, filled with the median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Price: 51 missing (14%). It is a target, so these rows are not filled; the Price model uses the 309 cars with a known price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Car_name_link removed (text only)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487" y="1837592"/>
            <a:ext cx="3086100" cy="2083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Stage 1: Checking Outliers (IQR Rule)</a:t>
            </a:r>
            <a:endParaRPr lang="en-US" sz="3000" dirty="0">
              <a:solidFill>
                <a:schemeClr val="tx1"/>
              </a:solidFill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474720" cy="2779776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Outliers</a:t>
                      </a:r>
                      <a:endParaRPr lang="en-US" sz="13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302B"/>
                          </a:solidFill>
                        </a:rPr>
                        <a:t>Battery</a:t>
                      </a:r>
                      <a:endParaRPr lang="en-US" sz="13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302B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302B"/>
                          </a:solidFill>
                        </a:rPr>
                        <a:t>Efficiency</a:t>
                      </a:r>
                      <a:endParaRPr lang="en-US" sz="13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302B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302B"/>
                          </a:solidFill>
                        </a:rPr>
                        <a:t>Fast_charge</a:t>
                      </a:r>
                      <a:endParaRPr lang="en-US" sz="13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302B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302B"/>
                          </a:solidFill>
                        </a:rPr>
                        <a:t>Price</a:t>
                      </a:r>
                      <a:endParaRPr lang="en-US" sz="13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302B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302B"/>
                          </a:solidFill>
                        </a:rPr>
                        <a:t>Range</a:t>
                      </a:r>
                      <a:endParaRPr lang="en-US" sz="13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302B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302B"/>
                          </a:solidFill>
                        </a:rPr>
                        <a:t>Top_speed</a:t>
                      </a:r>
                      <a:endParaRPr lang="en-US" sz="13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302B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302B"/>
                          </a:solidFill>
                        </a:rPr>
                        <a:t>Acceleration</a:t>
                      </a:r>
                      <a:endParaRPr lang="en-US" sz="13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302B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ullets"/>
          <p:cNvSpPr txBox="1"/>
          <p:nvPr/>
        </p:nvSpPr>
        <p:spPr>
          <a:xfrm>
            <a:off x="4297680" y="1188720"/>
            <a:ext cx="4389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Price has the most outliers (32): luxury and performance EVs.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These are genuine cars, not data-entry errors, so they were kept.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Random Forest and Decision Tree handle outliers well; Linear Regression is the most affected.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Stage 2: Data Visualization</a:t>
            </a:r>
            <a:endParaRPr lang="en-US" sz="3000" dirty="0">
              <a:solidFill>
                <a:schemeClr val="tx1"/>
              </a:solidFill>
            </a:endParaRPr>
          </a:p>
        </p:txBody>
      </p:sp>
      <p:pic>
        <p:nvPicPr>
          <p:cNvPr id="3" name="Price histogram" descr="Price histo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54034"/>
            <a:ext cx="4206240" cy="2704011"/>
          </a:xfrm>
          <a:prstGeom prst="rect">
            <a:avLst/>
          </a:prstGeom>
        </p:spPr>
      </p:pic>
      <p:pic>
        <p:nvPicPr>
          <p:cNvPr id="4" name="Range histogram" descr="Range histo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54034"/>
            <a:ext cx="4206240" cy="2704011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/>
              <a:t>Price is right-skewed (a few very expensive cars); Range is spread between 135 and 685 km.</a:t>
            </a:r>
            <a:endParaRPr lang="en-US" sz="11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Stage 2: Correlation Matrix</a:t>
            </a:r>
            <a:endParaRPr lang="en-US" sz="3000" dirty="0">
              <a:solidFill>
                <a:schemeClr val="tx1"/>
              </a:solidFill>
            </a:endParaRPr>
          </a:p>
        </p:txBody>
      </p:sp>
      <p:pic>
        <p:nvPicPr>
          <p:cNvPr id="3" name="Correlation matrix" descr="Correlation matri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051560"/>
            <a:ext cx="4320540" cy="3840480"/>
          </a:xfrm>
          <a:prstGeom prst="rect">
            <a:avLst/>
          </a:prstGeom>
        </p:spPr>
      </p:pic>
      <p:sp>
        <p:nvSpPr>
          <p:cNvPr id="4" name="bullets"/>
          <p:cNvSpPr txBox="1"/>
          <p:nvPr/>
        </p:nvSpPr>
        <p:spPr>
          <a:xfrm>
            <a:off x="4937760" y="118872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Battery and Range: 0.88 (strongest link)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Top speed and Price: 0.76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Battery and Price: 0.70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Acceleration (0-100 s) is negatively related to Range (-0.74) and Top speed (-0.84)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Efficiency is weakly related to the others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Stage 2: Boxplots for Checking Outliers</a:t>
            </a:r>
            <a:endParaRPr lang="en-US" sz="3000" dirty="0">
              <a:solidFill>
                <a:schemeClr val="tx1"/>
              </a:solidFill>
            </a:endParaRPr>
          </a:p>
        </p:txBody>
      </p:sp>
      <p:pic>
        <p:nvPicPr>
          <p:cNvPr id="3" name="Boxplots" descr="Boxplo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848" y="1051560"/>
            <a:ext cx="5760720" cy="352044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45720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/>
              <a:t>Dots above the whiskers are outlying values (for example very fast or very efficient cars).</a:t>
            </a:r>
            <a:endParaRPr lang="en-US" sz="11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tx1"/>
                </a:solidFill>
              </a:rPr>
              <a:t>12</a:t>
            </a:fld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Stage 2: Relationships Between Features</a:t>
            </a:r>
            <a:endParaRPr lang="en-US" sz="3000" dirty="0">
              <a:solidFill>
                <a:schemeClr val="tx1"/>
              </a:solidFill>
            </a:endParaRPr>
          </a:p>
        </p:txBody>
      </p:sp>
      <p:pic>
        <p:nvPicPr>
          <p:cNvPr id="3" name="Battery vs Range" descr="Battery vs Ran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54034"/>
            <a:ext cx="4206240" cy="2704011"/>
          </a:xfrm>
          <a:prstGeom prst="rect">
            <a:avLst/>
          </a:prstGeom>
        </p:spPr>
      </p:pic>
      <p:pic>
        <p:nvPicPr>
          <p:cNvPr id="4" name="Speed vs Price" descr="Speed vs Pr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54034"/>
            <a:ext cx="4206240" cy="2704011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/>
              <a:t>Bigger batteries give more range; faster cars cost more. Both trends are close to linear.</a:t>
            </a:r>
            <a:endParaRPr lang="en-US" sz="11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tx1"/>
                </a:solidFill>
              </a:rPr>
              <a:t>13</a:t>
            </a:fld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Stage 2: Price by Brand</a:t>
            </a:r>
            <a:endParaRPr lang="en-US" sz="3000" dirty="0">
              <a:solidFill>
                <a:schemeClr val="tx1"/>
              </a:solidFill>
            </a:endParaRPr>
          </a:p>
        </p:txBody>
      </p:sp>
      <p:pic>
        <p:nvPicPr>
          <p:cNvPr id="3" name="Brand average price" descr="Brand average pr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5120640" cy="3291840"/>
          </a:xfrm>
          <a:prstGeom prst="rect">
            <a:avLst/>
          </a:prstGeom>
        </p:spPr>
      </p:pic>
      <p:sp>
        <p:nvSpPr>
          <p:cNvPr id="4" name="bullets"/>
          <p:cNvSpPr txBox="1"/>
          <p:nvPr/>
        </p:nvSpPr>
        <p:spPr>
          <a:xfrm>
            <a:off x="5669280" y="137160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Brand was extracted from the first word of Car_name.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brands with 5 or more models are shown.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Premium brands sit far above the mass-market average.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Stage 3: Feature Engineering and Data Leakage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Brand: first word of Car_name (used for exploration).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Price_per_km: Price divided by Range (euros for each km of range).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 leakage check: Range is almost exactly Battery x 1000 / Efficiency.</a:t>
            </a:r>
            <a:endParaRPr lang="en-US" sz="1600" dirty="0"/>
          </a:p>
        </p:txBody>
      </p:sp>
      <p:sp>
        <p:nvSpPr>
          <p:cNvPr id="4" name="code panel"/>
          <p:cNvSpPr/>
          <p:nvPr/>
        </p:nvSpPr>
        <p:spPr>
          <a:xfrm>
            <a:off x="457200" y="3399112"/>
            <a:ext cx="4389120" cy="1097280"/>
          </a:xfrm>
          <a:prstGeom prst="roundRect">
            <a:avLst>
              <a:gd name="adj" fmla="val 6667"/>
            </a:avLst>
          </a:prstGeom>
          <a:solidFill>
            <a:srgbClr val="F3F6F5"/>
          </a:solidFill>
          <a:ln w="12700">
            <a:solidFill>
              <a:srgbClr val="D5E2DD"/>
            </a:solidFill>
            <a:prstDash val="solid"/>
          </a:ln>
        </p:spPr>
      </p:sp>
      <p:sp>
        <p:nvSpPr>
          <p:cNvPr id="5" name="code text"/>
          <p:cNvSpPr txBox="1"/>
          <p:nvPr/>
        </p:nvSpPr>
        <p:spPr>
          <a:xfrm>
            <a:off x="594360" y="349055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leakage card"/>
          <p:cNvSpPr/>
          <p:nvPr/>
        </p:nvSpPr>
        <p:spPr>
          <a:xfrm>
            <a:off x="5120640" y="1188720"/>
            <a:ext cx="3566160" cy="347472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12700">
            <a:solidFill>
              <a:srgbClr val="CFE0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0" y="137160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/>
              <a:t>Why this matters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/>
              <a:t>If Efficiency were used to predict Range, the model would almost get the answer for free and show a fake R-squared near 1.</a:t>
            </a:r>
          </a:p>
          <a:p>
            <a:pPr marL="0" indent="0">
              <a:buNone/>
            </a:pPr>
            <a:r>
              <a:rPr lang="en-US" sz="1400" dirty="0"/>
              <a:t>So the Range model does not use Efficiency. The Price model can use every specification.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35" y="3756480"/>
            <a:ext cx="4102401" cy="382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Statistical Problems in the Project</a:t>
            </a:r>
            <a:endParaRPr lang="en-US" sz="3000" dirty="0">
              <a:solidFill>
                <a:schemeClr val="tx1"/>
              </a:solidFill>
            </a:endParaRPr>
          </a:p>
        </p:txBody>
      </p:sp>
      <p:graphicFrame>
        <p:nvGraphicFramePr>
          <p:cNvPr id="11" name="statistical problems table"/>
          <p:cNvGraphicFramePr>
            <a:graphicFrameLocks noGrp="1"/>
          </p:cNvGraphicFramePr>
          <p:nvPr/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1737360"/>
                <a:gridCol w="2926080"/>
                <a:gridCol w="356616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Evidence in our data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How it was handled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302B"/>
                          </a:solidFill>
                        </a:rPr>
                        <a:t>Missing values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302B"/>
                          </a:solidFill>
                        </a:rPr>
                        <a:t>Fast_charge: 2 missing; Price: 51 missing (14%)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302B"/>
                          </a:solidFill>
                        </a:rPr>
                        <a:t>Fast_charge filled with the median; Price rows not filled because Price is a target (309 cars used)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302B"/>
                          </a:solidFill>
                        </a:rPr>
                        <a:t>Outliers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302B"/>
                          </a:solidFill>
                        </a:rPr>
                        <a:t>Price: 32, Efficiency: 8 (IQR rule)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302B"/>
                          </a:solidFill>
                        </a:rPr>
                        <a:t>Kept as genuine luxury cars; tree models handle them well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302B"/>
                          </a:solidFill>
                        </a:rPr>
                        <a:t>Skewed data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302B"/>
                          </a:solidFill>
                        </a:rPr>
                        <a:t>Price is right-skewed (a few very costly cars)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302B"/>
                          </a:solidFill>
                        </a:rPr>
                        <a:t>Kept as it is; Random Forest copes better than Linear Regression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302B"/>
                          </a:solidFill>
                        </a:rPr>
                        <a:t>Correlated predictors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302B"/>
                          </a:solidFill>
                        </a:rPr>
                        <a:t>Battery and Range 0.88; Acceleration and Top speed -0.84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302B"/>
                          </a:solidFill>
                        </a:rPr>
                        <a:t>Checked with the correlation matrix; Random Forest is not affected by it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302B"/>
                          </a:solidFill>
                        </a:rPr>
                        <a:t>Data leakage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302B"/>
                          </a:solidFill>
                        </a:rPr>
                        <a:t>Range is almost Battery x 1000 / Efficiency (r = 0.9999)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302B"/>
                          </a:solidFill>
                        </a:rPr>
                        <a:t>Efficiency left out of the Range model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302B"/>
                          </a:solidFill>
                        </a:rPr>
                        <a:t>Overfitting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302B"/>
                          </a:solidFill>
                        </a:rPr>
                        <a:t>A model can look perfect on training data only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302B"/>
                          </a:solidFill>
                        </a:rPr>
                        <a:t>80/20 split and 5-fold cross-validation (test R-squared close to CV R-squared)</a:t>
                      </a:r>
                      <a:endParaRPr lang="en-US" sz="11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Stage 4: Data Splitting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199" y="1026941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/>
              <a:t>80% of the data for training, 20% for testing</a:t>
            </a:r>
            <a:endParaRPr lang="en-US" sz="1800" dirty="0"/>
          </a:p>
        </p:txBody>
      </p:sp>
      <p:sp>
        <p:nvSpPr>
          <p:cNvPr id="4" name="code panel"/>
          <p:cNvSpPr/>
          <p:nvPr/>
        </p:nvSpPr>
        <p:spPr>
          <a:xfrm>
            <a:off x="1978269" y="1413808"/>
            <a:ext cx="5275386" cy="2076738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12700">
            <a:solidFill>
              <a:srgbClr val="D5E2DD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1042416"/>
        </p:xfrm>
        <a:graphic>
          <a:graphicData uri="http://schemas.openxmlformats.org/drawingml/2006/table">
            <a:tbl>
              <a:tblPr/>
              <a:tblGrid>
                <a:gridCol w="822960"/>
                <a:gridCol w="1737360"/>
                <a:gridCol w="5669280"/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5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15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Inputs</a:t>
                      </a:r>
                      <a:endParaRPr lang="en-US" sz="115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B"/>
                          </a:solidFill>
                        </a:rPr>
                        <a:t>A</a:t>
                      </a:r>
                      <a:endParaRPr lang="en-US" sz="115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B"/>
                          </a:solidFill>
                        </a:rPr>
                        <a:t>Range (km)</a:t>
                      </a:r>
                      <a:endParaRPr lang="en-US" sz="115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B"/>
                          </a:solidFill>
                        </a:rPr>
                        <a:t>Battery, Fast_charge, Top_speed, Acceleration</a:t>
                      </a:r>
                      <a:endParaRPr lang="en-US" sz="115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B"/>
                          </a:solidFill>
                        </a:rPr>
                        <a:t>B</a:t>
                      </a:r>
                      <a:endParaRPr lang="en-US" sz="115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B"/>
                          </a:solidFill>
                        </a:rPr>
                        <a:t>Price (euros)</a:t>
                      </a:r>
                      <a:endParaRPr lang="en-US" sz="115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02B"/>
                          </a:solidFill>
                        </a:rPr>
                        <a:t>Battery, Efficiency, Fast_charge, Top_speed, Acceleration, Range</a:t>
                      </a:r>
                      <a:endParaRPr lang="en-US" sz="115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908" y="1505247"/>
            <a:ext cx="4853354" cy="189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Stage 5: Machine Learning Models Used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3" name="model card 1"/>
          <p:cNvSpPr/>
          <p:nvPr/>
        </p:nvSpPr>
        <p:spPr>
          <a:xfrm>
            <a:off x="457200" y="1280160"/>
            <a:ext cx="26060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CFE0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lm()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/>
              <a:t>Fits a straight-line equation. Simple and easy to interpret.</a:t>
            </a:r>
          </a:p>
        </p:txBody>
      </p:sp>
      <p:sp>
        <p:nvSpPr>
          <p:cNvPr id="7" name="model card 2"/>
          <p:cNvSpPr/>
          <p:nvPr/>
        </p:nvSpPr>
        <p:spPr>
          <a:xfrm>
            <a:off x="3273552" y="1280160"/>
            <a:ext cx="26060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CFE0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463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rpart()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242316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/>
              <a:t>Splits the data with if-else rules. Captures non-linear patterns.</a:t>
            </a:r>
          </a:p>
        </p:txBody>
      </p:sp>
      <p:sp>
        <p:nvSpPr>
          <p:cNvPr id="11" name="model card 3"/>
          <p:cNvSpPr/>
          <p:nvPr/>
        </p:nvSpPr>
        <p:spPr>
          <a:xfrm>
            <a:off x="6089904" y="1280160"/>
            <a:ext cx="26060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CFE0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72784" y="1463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272784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ranger(), 300 trees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242316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/>
              <a:t>Averages many trees. Usually the most accurate and stable.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Control Structures, Functions and Lists in R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11" name="code panel"/>
          <p:cNvSpPr/>
          <p:nvPr/>
        </p:nvSpPr>
        <p:spPr>
          <a:xfrm>
            <a:off x="457200" y="1097280"/>
            <a:ext cx="4846320" cy="356616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CFE0D9"/>
            </a:solidFill>
            <a:prstDash val="solid"/>
          </a:ln>
        </p:spPr>
        <p:txBody>
          <a:bodyPr wrap="square" lIns="118872" tIns="118872" rIns="118872" bIns="118872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# Control structures: for loop + if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16302B"/>
                </a:solidFill>
                <a:latin typeface="Courier New"/>
                <a:ea typeface="Courier New"/>
                <a:cs typeface="Courier New"/>
              </a:rPr>
              <a:t>for (col in names(ev)) {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16302B"/>
                </a:solidFill>
                <a:latin typeface="Courier New"/>
                <a:ea typeface="Courier New"/>
                <a:cs typeface="Courier New"/>
              </a:rPr>
              <a:t>  if (any(is.na(ev[[col]]))) {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16302B"/>
                </a:solidFill>
                <a:latin typeface="Courier New"/>
                <a:ea typeface="Courier New"/>
                <a:cs typeface="Courier New"/>
              </a:rPr>
              <a:t>    cat(col, "has missing values\n")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16302B"/>
                </a:solidFill>
                <a:latin typeface="Courier New"/>
                <a:ea typeface="Courier New"/>
                <a:cs typeface="Courier New"/>
              </a:rPr>
              <a:t>  }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16302B"/>
                </a:solidFill>
                <a:latin typeface="Courier New"/>
                <a:ea typeface="Courier New"/>
                <a:cs typeface="Courier New"/>
              </a:rPr>
              <a:t>}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# User-defined function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16302B"/>
                </a:solidFill>
                <a:latin typeface="Courier New"/>
                <a:ea typeface="Courier New"/>
                <a:cs typeface="Courier New"/>
              </a:rPr>
              <a:t>evaluate &lt;- function(actual, pred) {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16302B"/>
                </a:solidFill>
                <a:latin typeface="Courier New"/>
                <a:ea typeface="Courier New"/>
                <a:cs typeface="Courier New"/>
              </a:rPr>
              <a:t>  rmse &lt;- sqrt(mean((actual - pred)^2))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16302B"/>
                </a:solidFill>
                <a:latin typeface="Courier New"/>
                <a:ea typeface="Courier New"/>
                <a:cs typeface="Courier New"/>
              </a:rPr>
              <a:t>  mae  &lt;- mean(abs(actual - pred))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16302B"/>
                </a:solidFill>
                <a:latin typeface="Courier New"/>
                <a:ea typeface="Courier New"/>
                <a:cs typeface="Courier New"/>
              </a:rPr>
              <a:t>  r2   &lt;- 1 - sum((actual - pred)^2) /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16302B"/>
                </a:solidFill>
                <a:latin typeface="Courier New"/>
                <a:ea typeface="Courier New"/>
                <a:cs typeface="Courier New"/>
              </a:rPr>
              <a:t>              sum((actual - mean(actual))^2)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16302B"/>
                </a:solidFill>
                <a:latin typeface="Courier New"/>
                <a:ea typeface="Courier New"/>
                <a:cs typeface="Courier New"/>
              </a:rPr>
              <a:t>  list(RMSE = rmse, MAE = mae, R2 = r2)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16302B"/>
                </a:solidFill>
                <a:latin typeface="Courier New"/>
                <a:ea typeface="Courier New"/>
                <a:cs typeface="Courier New"/>
              </a:rPr>
              <a:t>}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chemeClr val="accent1"/>
                </a:solidFill>
                <a:latin typeface="Courier New"/>
                <a:ea typeface="Courier New"/>
                <a:cs typeface="Courier New"/>
              </a:rPr>
              <a:t># List of results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16302B"/>
                </a:solidFill>
                <a:latin typeface="Courier New"/>
                <a:ea typeface="Courier New"/>
                <a:cs typeface="Courier New"/>
              </a:rPr>
              <a:t>results &lt;- list(LM = evaluate(testA$Range, predLM),</a:t>
            </a:r>
            <a:endParaRPr lang="en-US" sz="1000" dirty="0"/>
          </a:p>
          <a:p>
            <a:pPr marL="0" indent="0" algn="l">
              <a:spcAft>
                <a:spcPts val="0"/>
              </a:spcAft>
              <a:buNone/>
            </a:pPr>
            <a:r>
              <a:rPr lang="en-US" sz="1000" dirty="0">
                <a:solidFill>
                  <a:srgbClr val="16302B"/>
                </a:solidFill>
                <a:latin typeface="Courier New"/>
                <a:ea typeface="Courier New"/>
                <a:cs typeface="Courier New"/>
              </a:rPr>
              <a:t>                RF = evaluate(testA$Range, predRF))</a:t>
            </a:r>
            <a:endParaRPr lang="en-US" sz="1000" dirty="0"/>
          </a:p>
        </p:txBody>
      </p:sp>
      <p:sp>
        <p:nvSpPr>
          <p:cNvPr id="12" name="explanations"/>
          <p:cNvSpPr txBox="1"/>
          <p:nvPr/>
        </p:nvSpPr>
        <p:spPr>
          <a:xfrm>
            <a:off x="5532120" y="1143000"/>
            <a:ext cx="31546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latin typeface="Cambria"/>
                <a:ea typeface="Cambria"/>
                <a:cs typeface="Cambria"/>
              </a:rPr>
              <a:t>Control structures</a:t>
            </a:r>
            <a:endParaRPr lang="en-US" sz="140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200" dirty="0"/>
              <a:t>for and if check every column for missing values; rpart splits the data with if-else rules.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latin typeface="Cambria"/>
                <a:ea typeface="Cambria"/>
                <a:cs typeface="Cambria"/>
              </a:rPr>
              <a:t>Functions</a:t>
            </a:r>
            <a:endParaRPr lang="en-US" sz="140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200" dirty="0"/>
              <a:t>Our evaluate() function, plus lm(), rpart(), ranger() and predict().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latin typeface="Cambria"/>
                <a:ea typeface="Cambria"/>
                <a:cs typeface="Cambria"/>
              </a:rPr>
              <a:t>List</a:t>
            </a:r>
            <a:endParaRPr lang="en-US" sz="140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200" dirty="0"/>
              <a:t>Collects the RMSE, MAE and R-squared of each model in one object.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latin typeface="Cambria"/>
                <a:ea typeface="Cambria"/>
                <a:cs typeface="Cambria"/>
              </a:rPr>
              <a:t>Data frame</a:t>
            </a:r>
            <a:endParaRPr lang="en-US" sz="1400" dirty="0"/>
          </a:p>
          <a:p>
            <a:pPr marL="0" indent="0" algn="l">
              <a:spcAft>
                <a:spcPts val="900"/>
              </a:spcAft>
              <a:buNone/>
            </a:pPr>
            <a:r>
              <a:rPr lang="en-US" sz="1200" dirty="0"/>
              <a:t>ev, trainA / testA, trainB / testB: one row per car, one column per specification.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Linear Regression: Range Model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3" name="code panel"/>
          <p:cNvSpPr/>
          <p:nvPr/>
        </p:nvSpPr>
        <p:spPr>
          <a:xfrm>
            <a:off x="668215" y="1097280"/>
            <a:ext cx="4528040" cy="3017520"/>
          </a:xfrm>
          <a:prstGeom prst="roundRect">
            <a:avLst>
              <a:gd name="adj" fmla="val 2424"/>
            </a:avLst>
          </a:prstGeom>
          <a:solidFill>
            <a:srgbClr val="F3F6F5"/>
          </a:solidFill>
          <a:ln w="12700">
            <a:solidFill>
              <a:srgbClr val="D5E2DD"/>
            </a:solidFill>
            <a:prstDash val="solid"/>
          </a:ln>
        </p:spPr>
      </p:sp>
      <p:sp>
        <p:nvSpPr>
          <p:cNvPr id="5" name="bullets"/>
          <p:cNvSpPr txBox="1"/>
          <p:nvPr/>
        </p:nvSpPr>
        <p:spPr>
          <a:xfrm>
            <a:off x="5486400" y="118872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extra kWh of battery adds about 3.6 km of range.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predictor is significant.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model explains about 87% of the variation in range on the training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43" y="1357532"/>
            <a:ext cx="4095384" cy="2497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Range Prediction: Results on the Test Set</a:t>
            </a:r>
            <a:endParaRPr lang="en-US" sz="3000" dirty="0">
              <a:solidFill>
                <a:schemeClr val="tx1"/>
              </a:solidFill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7680960" cy="1389888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RMSE (km)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MAE (km)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R-squared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Linear Regression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41.41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33.02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0.866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Decision Tree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43.43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33.59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0.852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26.56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18.11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0.945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Range actual vs predicted" descr="Range actual vs predic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51560"/>
            <a:ext cx="6858000" cy="2468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Price Prediction: Results on the Test Set</a:t>
            </a:r>
            <a:endParaRPr lang="en-US" sz="3000" dirty="0">
              <a:solidFill>
                <a:schemeClr val="tx1"/>
              </a:solidFill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7680960" cy="1389888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RMSE (euros)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MAE (euros)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R-squared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Linear Regression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22,182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13,575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0.678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Decision Tree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17,504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11,237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0.800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16,272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9,014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0.827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rice actual vs predicted" descr="Price actual vs predic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51560"/>
            <a:ext cx="6858000" cy="2468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Random Forest: Feature Importance</a:t>
            </a:r>
            <a:endParaRPr lang="en-US" sz="3000" dirty="0">
              <a:solidFill>
                <a:schemeClr val="tx1"/>
              </a:solidFill>
            </a:endParaRPr>
          </a:p>
        </p:txBody>
      </p:sp>
      <p:pic>
        <p:nvPicPr>
          <p:cNvPr id="3" name="Range importance" descr="Range importa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04257"/>
            <a:ext cx="4206240" cy="2403566"/>
          </a:xfrm>
          <a:prstGeom prst="rect">
            <a:avLst/>
          </a:prstGeom>
        </p:spPr>
      </p:pic>
      <p:pic>
        <p:nvPicPr>
          <p:cNvPr id="4" name="Price importance" descr="Price importan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404257"/>
            <a:ext cx="4206240" cy="2403566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/>
              <a:t>Battery capacity is the most important feature for both Range and Price. Top speed is second for Price.</a:t>
            </a:r>
            <a:endParaRPr lang="en-US" sz="11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Comparison of Models</a:t>
            </a:r>
            <a:endParaRPr lang="en-US" sz="3000" dirty="0">
              <a:solidFill>
                <a:schemeClr val="tx1"/>
              </a:solidFill>
            </a:endParaRPr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737360"/>
        </p:xfrm>
        <a:graphic>
          <a:graphicData uri="http://schemas.openxmlformats.org/drawingml/2006/table">
            <a:tbl>
              <a:tblPr/>
              <a:tblGrid>
                <a:gridCol w="822960"/>
                <a:gridCol w="1828800"/>
                <a:gridCol w="1371600"/>
                <a:gridCol w="1737360"/>
                <a:gridCol w="2468880"/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R-squared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5-fold CV R-squared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Comments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Range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Linear Regression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0.866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0.871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Good, but misses curves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Range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0.945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0.933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Best and stable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Price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Linear Regression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0.678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0.719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Weakest, hurt by outliers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Price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0.827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0.885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Best and stable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</a:tbl>
          </a:graphicData>
        </a:graphic>
      </p:graphicFrame>
      <p:sp>
        <p:nvSpPr>
          <p:cNvPr id="4" name="bullets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5-fold cross-validation gives similar scores to the single test split, so the results are not a lucky split.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Decision Tree: R-squared 0.852 (Range) and 0.800 (Price), between the other two models.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Prediction on a New Car</a:t>
            </a:r>
            <a:endParaRPr lang="en-US" sz="3000" dirty="0">
              <a:solidFill>
                <a:schemeClr val="tx1"/>
              </a:solidFill>
            </a:endParaRPr>
          </a:p>
        </p:txBody>
      </p:sp>
      <p:graphicFrame>
        <p:nvGraphicFramePr>
          <p:cNvPr id="11" name="new car table"/>
          <p:cNvGraphicFramePr>
            <a:graphicFrameLocks noGrp="1"/>
          </p:cNvGraphicFramePr>
          <p:nvPr/>
        </p:nvGraphicFramePr>
        <p:xfrm>
          <a:off x="457200" y="1143000"/>
          <a:ext cx="2834640" cy="2057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New car input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302B"/>
                          </a:solidFill>
                        </a:rPr>
                        <a:t>Battery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60 kWh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302B"/>
                          </a:solidFill>
                        </a:rPr>
                        <a:t>Fast_charge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400 km/h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302B"/>
                          </a:solidFill>
                        </a:rPr>
                        <a:t>Top_speed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160 km/h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302B"/>
                          </a:solidFill>
                        </a:rPr>
                        <a:t>Acceleration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302B"/>
                          </a:solidFill>
                        </a:rPr>
                        <a:t>8.0 s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</a:tbl>
          </a:graphicData>
        </a:graphic>
      </p:graphicFrame>
      <p:sp>
        <p:nvSpPr>
          <p:cNvPr id="12" name="prediction code"/>
          <p:cNvSpPr/>
          <p:nvPr/>
        </p:nvSpPr>
        <p:spPr>
          <a:xfrm>
            <a:off x="3683000" y="1143000"/>
            <a:ext cx="4820920" cy="205740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CFE0D9"/>
            </a:solidFill>
            <a:prstDash val="solid"/>
          </a:ln>
        </p:spPr>
        <p:txBody>
          <a:bodyPr wrap="square" lIns="118872" tIns="118872" rIns="118872" bIns="118872" rtlCol="0" anchor="t"/>
          <a:lstStyle/>
          <a:p>
            <a:pPr marL="0" indent="0" algn="l">
              <a:spcAft>
                <a:spcPts val="0"/>
              </a:spcAft>
              <a:buNone/>
            </a:pPr>
            <a:endParaRPr lang="en-US" sz="1100" dirty="0"/>
          </a:p>
        </p:txBody>
      </p:sp>
      <p:sp>
        <p:nvSpPr>
          <p:cNvPr id="13" name="result card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CFE0D9"/>
            </a:solidFill>
            <a:prstDash val="solid"/>
          </a:ln>
        </p:spPr>
      </p:sp>
      <p:sp>
        <p:nvSpPr>
          <p:cNvPr id="14" name="result number"/>
          <p:cNvSpPr txBox="1"/>
          <p:nvPr/>
        </p:nvSpPr>
        <p:spPr>
          <a:xfrm>
            <a:off x="640080" y="3383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200" b="1" dirty="0">
                <a:latin typeface="Cambria"/>
                <a:ea typeface="Cambria"/>
                <a:cs typeface="Cambria"/>
              </a:rPr>
              <a:t>318.5 km</a:t>
            </a:r>
            <a:endParaRPr lang="en-US" sz="3200" dirty="0"/>
          </a:p>
        </p:txBody>
      </p:sp>
      <p:sp>
        <p:nvSpPr>
          <p:cNvPr id="15" name="result text"/>
          <p:cNvSpPr txBox="1"/>
          <p:nvPr/>
        </p:nvSpPr>
        <p:spPr>
          <a:xfrm>
            <a:off x="3063240" y="347472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latin typeface="Cambria"/>
                <a:ea typeface="Cambria"/>
                <a:cs typeface="Cambria"/>
              </a:rPr>
              <a:t>Linear Regression prediction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/>
              <a:t>257.78 + 3.556 x 60 + 0.109 x 400 - 0.640 x 160 - 11.748 x 8, using the coefficients of the Range model.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200" dirty="0"/>
              <a:t>The same predict() call on the Random Forest (best model, R-squared 0.945) gives the final estimate.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  <p:sp>
        <p:nvSpPr>
          <p:cNvPr id="3" name="AutoShape 4" descr="Minimal R Code Snippet on Whi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605" y="1328737"/>
            <a:ext cx="4292030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 and Discussion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3" name="bullets"/>
          <p:cNvSpPr txBox="1"/>
          <p:nvPr/>
        </p:nvSpPr>
        <p:spPr>
          <a:xfrm>
            <a:off x="457200" y="1097280"/>
            <a:ext cx="8229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Random Forest is the most reliable model for both targets.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Battery capacity is the strongest driver of both range and price.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Price is harder to predict than range: brand, design and market positioning also affect price but are not in the dataset.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Range model leaves out Efficiency to avoid data leakage, so the scores are realistic, not a suspicious perfect fit.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Limitations: only 360 cars, and 51 cars have no price.</a:t>
            </a:r>
            <a:endParaRPr lang="en-US" sz="1400" dirty="0"/>
          </a:p>
        </p:txBody>
      </p:sp>
      <p:sp>
        <p:nvSpPr>
          <p:cNvPr id="4" name="stat card 1"/>
          <p:cNvSpPr/>
          <p:nvPr/>
        </p:nvSpPr>
        <p:spPr>
          <a:xfrm>
            <a:off x="457200" y="3657600"/>
            <a:ext cx="19202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rgbClr val="CFE0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0.945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Range R-squared</a:t>
            </a:r>
          </a:p>
        </p:txBody>
      </p:sp>
      <p:sp>
        <p:nvSpPr>
          <p:cNvPr id="7" name="stat card 2"/>
          <p:cNvSpPr/>
          <p:nvPr/>
        </p:nvSpPr>
        <p:spPr>
          <a:xfrm>
            <a:off x="2542032" y="3657600"/>
            <a:ext cx="19202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rgbClr val="CFE0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42032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26.6 km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542032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Range RMSE</a:t>
            </a:r>
          </a:p>
        </p:txBody>
      </p:sp>
      <p:sp>
        <p:nvSpPr>
          <p:cNvPr id="10" name="stat card 3"/>
          <p:cNvSpPr/>
          <p:nvPr/>
        </p:nvSpPr>
        <p:spPr>
          <a:xfrm>
            <a:off x="4626864" y="3657600"/>
            <a:ext cx="19202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rgbClr val="CFE0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6864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0.827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Price R-squared</a:t>
            </a:r>
          </a:p>
        </p:txBody>
      </p:sp>
      <p:sp>
        <p:nvSpPr>
          <p:cNvPr id="13" name="stat card 4"/>
          <p:cNvSpPr/>
          <p:nvPr/>
        </p:nvSpPr>
        <p:spPr>
          <a:xfrm>
            <a:off x="6711696" y="3657600"/>
            <a:ext cx="19202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rgbClr val="CFE0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11696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16,272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Price RMSE (euros)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Conclusion and Future Work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/>
              <a:t>Conclusion</a:t>
            </a:r>
            <a:endParaRPr lang="en-US" sz="2000" dirty="0"/>
          </a:p>
        </p:txBody>
      </p:sp>
      <p:sp>
        <p:nvSpPr>
          <p:cNvPr id="4" name="bullets"/>
          <p:cNvSpPr txBox="1"/>
          <p:nvPr/>
        </p:nvSpPr>
        <p:spPr>
          <a:xfrm>
            <a:off x="457200" y="160020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/>
              <a:t>Built an end-to-end R pipeline: cleaning, visualization, splitting, three models and evaluation.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/>
              <a:t>Random Forest predicts range within about 27 km and explains 94.5% of the variation.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/>
              <a:t>Future work</a:t>
            </a:r>
            <a:endParaRPr lang="en-US" sz="2000" dirty="0"/>
          </a:p>
        </p:txBody>
      </p:sp>
      <p:sp>
        <p:nvSpPr>
          <p:cNvPr id="6" name="bullets"/>
          <p:cNvSpPr txBox="1"/>
          <p:nvPr/>
        </p:nvSpPr>
        <p:spPr>
          <a:xfrm>
            <a:off x="4754880" y="160020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/>
              <a:t>Add brand, weight and body type as features.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/>
              <a:t>Try gradient boosting (XGBoost) and tune hyper-parameters.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/>
              <a:t>Build a Shiny app where a user enters specifications and gets the predicted range and price.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40080" y="967154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tx1"/>
                </a:solidFill>
              </a:rPr>
              <a:t>Project Reference</a:t>
            </a:r>
            <a:endParaRPr lang="en-US" sz="3800" dirty="0">
              <a:solidFill>
                <a:schemeClr val="tx1"/>
              </a:solidFill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640080" y="2565596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GitHub: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u="sng" dirty="0">
                <a:solidFill>
                  <a:schemeClr val="tx1"/>
                </a:solidFill>
              </a:rPr>
              <a:t>https://github.com/kavi0917/ev-price-range-prediction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</a:p>
          <a:p>
            <a:endParaRPr lang="en-US" sz="1600" dirty="0" smtClean="0">
              <a:solidFill>
                <a:schemeClr val="tx1"/>
              </a:solidFill>
            </a:endParaRPr>
          </a:p>
          <a:p>
            <a:endParaRPr lang="en-US" sz="1600" dirty="0" smtClean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2400" b="1" dirty="0" smtClean="0">
                <a:solidFill>
                  <a:schemeClr val="tx1"/>
                </a:solidFill>
              </a:rPr>
              <a:t>THANK </a:t>
            </a:r>
            <a:r>
              <a:rPr lang="en-US" sz="2400" b="1" dirty="0">
                <a:solidFill>
                  <a:schemeClr val="tx1"/>
                </a:solidFill>
              </a:rPr>
              <a:t>YOU!!!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V Green">
  <a:themeElements>
    <a:clrScheme name="EV Green">
      <a:dk1>
        <a:srgbClr val="16302B"/>
      </a:dk1>
      <a:lt1>
        <a:srgbClr val="FFFFFF"/>
      </a:lt1>
      <a:dk2>
        <a:srgbClr val="0E4A3A"/>
      </a:dk2>
      <a:lt2>
        <a:srgbClr val="EAF3EF"/>
      </a:lt2>
      <a:accent1>
        <a:srgbClr val="2A7F62"/>
      </a:accent1>
      <a:accent2>
        <a:srgbClr val="1F6F8B"/>
      </a:accent2>
      <a:accent3>
        <a:srgbClr val="C0392B"/>
      </a:accent3>
      <a:accent4>
        <a:srgbClr val="E0A030"/>
      </a:accent4>
      <a:accent5>
        <a:srgbClr val="5F877B"/>
      </a:accent5>
      <a:accent6>
        <a:srgbClr val="3D5A80"/>
      </a:accent6>
      <a:hlink>
        <a:srgbClr val="1F6F8B"/>
      </a:hlink>
      <a:folHlink>
        <a:srgbClr val="5F877B"/>
      </a:folHlink>
    </a:clrScheme>
    <a:fontScheme name="EV G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1813</Words>
  <Application>Microsoft Office PowerPoint</Application>
  <PresentationFormat>On-screen Show (16:9)</PresentationFormat>
  <Paragraphs>334</Paragraphs>
  <Slides>28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EV Green</vt:lpstr>
      <vt:lpstr>Electric Vehicle Price and Range Prediction Using R</vt:lpstr>
      <vt:lpstr>Problem Statement</vt:lpstr>
      <vt:lpstr>Project Objectives</vt:lpstr>
      <vt:lpstr>Loading Dataset</vt:lpstr>
      <vt:lpstr>Anatomy of our Dataset</vt:lpstr>
      <vt:lpstr>Structure and Summary of the Dataset</vt:lpstr>
      <vt:lpstr>Data Structures Used in the Project</vt:lpstr>
      <vt:lpstr>Stage 1: Data Cleaning</vt:lpstr>
      <vt:lpstr>Stage 1: Checking Outliers (IQR Rule)</vt:lpstr>
      <vt:lpstr>Stage 2: Data Visualization</vt:lpstr>
      <vt:lpstr>Stage 2: Correlation Matrix</vt:lpstr>
      <vt:lpstr>Stage 2: Boxplots for Checking Outliers</vt:lpstr>
      <vt:lpstr>Stage 2: Relationships Between Features</vt:lpstr>
      <vt:lpstr>Stage 2: Price by Brand</vt:lpstr>
      <vt:lpstr>Stage 3: Feature Engineering and Data Leakage</vt:lpstr>
      <vt:lpstr>Statistical Problems in the Project</vt:lpstr>
      <vt:lpstr>Stage 4: Data Splitting</vt:lpstr>
      <vt:lpstr>Stage 5: Machine Learning Models Used</vt:lpstr>
      <vt:lpstr>Control Structures, Functions and Lists in R</vt:lpstr>
      <vt:lpstr>Linear Regression: Range Model</vt:lpstr>
      <vt:lpstr>Range Prediction: Results on the Test Set</vt:lpstr>
      <vt:lpstr>Price Prediction: Results on the Test Set</vt:lpstr>
      <vt:lpstr>Random Forest: Feature Importance</vt:lpstr>
      <vt:lpstr>Comparison of Models</vt:lpstr>
      <vt:lpstr>Prediction on a New Car</vt:lpstr>
      <vt:lpstr>Results and Discussion</vt:lpstr>
      <vt:lpstr>Conclusion and Future Work</vt:lpstr>
      <vt:lpstr>Project Reference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Vehicle Price and Range Prediction Using R</dc:title>
  <dc:subject>PptxGenJS Presentation</dc:subject>
  <dc:creator>Kavipriyadharsan P</dc:creator>
  <cp:lastModifiedBy>ADMIN</cp:lastModifiedBy>
  <cp:revision>18</cp:revision>
  <dcterms:created xsi:type="dcterms:W3CDTF">2026-10-07T06:20:24Z</dcterms:created>
  <dcterms:modified xsi:type="dcterms:W3CDTF">2026-10-07T17:54:12Z</dcterms:modified>
</cp:coreProperties>
</file>