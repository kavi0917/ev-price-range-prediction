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08" d="100"/>
          <a:sy n="108" d="100"/>
        </p:scale>
        <p:origin x="-276" y="2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C892F-3DCA-4A51-A4BC-8E571D6A30C5}" type="datetimeFigureOut">
              <a:rPr lang="en-US" smtClean="0"/>
              <a:t>07-Oct-26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47625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55674F-6879-416E-9033-6713F3BD0C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16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292608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6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%3cyour-username%3e/ev-price-range-predictio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</a:rPr>
              <a:t>Electric Vehicle Price and Range Prediction Using R</a:t>
            </a:r>
            <a:endParaRPr lang="en-US" sz="3800" dirty="0">
              <a:solidFill>
                <a:schemeClr val="tx1"/>
              </a:solidFill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640080" y="29260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Kavipriyadharsan P  |  Roll No: 717825Z129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II MCA, Sem III, Section A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Karpagam College of Engineering, Coimbatore</a:t>
            </a:r>
          </a:p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R Mini Project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Problem Statement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bullets"/>
          <p:cNvSpPr txBox="1"/>
          <p:nvPr/>
        </p:nvSpPr>
        <p:spPr>
          <a:xfrm>
            <a:off x="457200" y="1188720"/>
            <a:ext cx="82296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Buying an electric vehicle (EV) is a big decision: price and driving range depend on battery size, speed, acceleration and charging power.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With hundreds of models on the market, it is hard to tell whether a car's price or range is reasonable for its specifications.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problem is to build predictive models that estimate (A) the driving range in km and (B) the price in euros from the technical specifications.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Such predictions help buyers compare models and help manufacturers position new cars.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Loading Dataset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5" name="caption"/>
          <p:cNvSpPr txBox="1"/>
          <p:nvPr/>
        </p:nvSpPr>
        <p:spPr>
          <a:xfrm>
            <a:off x="2244233" y="4158762"/>
            <a:ext cx="4703886" cy="4730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 smtClean="0"/>
              <a:t>First </a:t>
            </a:r>
            <a:r>
              <a:rPr lang="en-US" sz="1200" b="1" i="1" dirty="0"/>
              <a:t>six rows of the dataset (source: Kaggle, originally ev-database.org).</a:t>
            </a:r>
            <a:endParaRPr lang="en-US" sz="12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8" name="code panel"/>
          <p:cNvSpPr/>
          <p:nvPr/>
        </p:nvSpPr>
        <p:spPr>
          <a:xfrm>
            <a:off x="1670538" y="1037492"/>
            <a:ext cx="5864470" cy="3042139"/>
          </a:xfrm>
          <a:prstGeom prst="roundRect">
            <a:avLst>
              <a:gd name="adj" fmla="val 8889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9029" y="1152231"/>
            <a:ext cx="5387487" cy="28126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Anatomy of our Dataset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/>
              <a:t>Dimensions</a:t>
            </a:r>
            <a:endParaRPr lang="en-US" sz="2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64592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/>
              <a:t>360 rows (cars) and 9 columns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/>
              <a:t>Source: Kaggle dataset repository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/>
              <a:t>Targets: Range (km) and Price (euros)</a:t>
            </a:r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/>
              <a:t>Price is the German list price (Price.DE.)</a:t>
            </a:r>
          </a:p>
        </p:txBody>
      </p:sp>
      <p:sp>
        <p:nvSpPr>
          <p:cNvPr id="5" name="code panel"/>
          <p:cNvSpPr/>
          <p:nvPr/>
        </p:nvSpPr>
        <p:spPr>
          <a:xfrm>
            <a:off x="457200" y="3840480"/>
            <a:ext cx="2171700" cy="822960"/>
          </a:xfrm>
          <a:prstGeom prst="roundRect">
            <a:avLst>
              <a:gd name="adj" fmla="val 8889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6" name="code text"/>
          <p:cNvSpPr txBox="1"/>
          <p:nvPr/>
        </p:nvSpPr>
        <p:spPr>
          <a:xfrm>
            <a:off x="594360" y="3931920"/>
            <a:ext cx="185869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887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/>
              <a:t>Features</a:t>
            </a:r>
            <a:endParaRPr lang="en-US" sz="2000" dirty="0"/>
          </a:p>
        </p:txBody>
      </p:sp>
      <p:sp>
        <p:nvSpPr>
          <p:cNvPr id="8" name="code panel"/>
          <p:cNvSpPr/>
          <p:nvPr/>
        </p:nvSpPr>
        <p:spPr>
          <a:xfrm>
            <a:off x="5099538" y="1645920"/>
            <a:ext cx="2409093" cy="2194560"/>
          </a:xfrm>
          <a:prstGeom prst="roundRect">
            <a:avLst>
              <a:gd name="adj" fmla="val 2424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9" name="code text"/>
          <p:cNvSpPr txBox="1"/>
          <p:nvPr/>
        </p:nvSpPr>
        <p:spPr>
          <a:xfrm>
            <a:off x="5099538" y="1737361"/>
            <a:ext cx="2409093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6260" y="1702630"/>
            <a:ext cx="2015648" cy="20811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" y="3998692"/>
            <a:ext cx="1858694" cy="55587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r>
              <a:rPr lang="en-US" sz="3000" b="1" dirty="0">
                <a:solidFill>
                  <a:schemeClr val="tx1"/>
                </a:solidFill>
              </a:rPr>
              <a:t> and Summary of the Dataset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code panel"/>
          <p:cNvSpPr/>
          <p:nvPr/>
        </p:nvSpPr>
        <p:spPr>
          <a:xfrm>
            <a:off x="457199" y="1188719"/>
            <a:ext cx="4255477" cy="2600765"/>
          </a:xfrm>
          <a:prstGeom prst="roundRect">
            <a:avLst>
              <a:gd name="adj" fmla="val 2759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4" name="code text"/>
          <p:cNvSpPr txBox="1"/>
          <p:nvPr/>
        </p:nvSpPr>
        <p:spPr>
          <a:xfrm>
            <a:off x="594360" y="1280160"/>
            <a:ext cx="3840480" cy="2043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721" y="1323680"/>
            <a:ext cx="3986432" cy="233084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code panel"/>
          <p:cNvSpPr/>
          <p:nvPr/>
        </p:nvSpPr>
        <p:spPr>
          <a:xfrm>
            <a:off x="5108330" y="1039251"/>
            <a:ext cx="3410830" cy="3559126"/>
          </a:xfrm>
          <a:prstGeom prst="roundRect">
            <a:avLst>
              <a:gd name="adj" fmla="val 2759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11" name="code text"/>
          <p:cNvSpPr txBox="1"/>
          <p:nvPr/>
        </p:nvSpPr>
        <p:spPr>
          <a:xfrm>
            <a:off x="5108330" y="1188720"/>
            <a:ext cx="3593709" cy="30075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7502" y="1315036"/>
            <a:ext cx="2892486" cy="300755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5" name="caption"/>
          <p:cNvSpPr txBox="1"/>
          <p:nvPr/>
        </p:nvSpPr>
        <p:spPr>
          <a:xfrm>
            <a:off x="5028027" y="1039251"/>
            <a:ext cx="350754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/>
              <a:t>Output of summary(</a:t>
            </a:r>
            <a:r>
              <a:rPr lang="en-US" sz="1100" b="1" i="1" dirty="0" err="1"/>
              <a:t>ev</a:t>
            </a:r>
            <a:r>
              <a:rPr lang="en-US" sz="1100" b="1" i="1" dirty="0" smtClean="0"/>
              <a:t>):</a:t>
            </a:r>
            <a:endParaRPr lang="en-US" sz="1100" b="1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1: Data Cleaning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/>
              <a:t>Checking missing values and duplicates</a:t>
            </a:r>
            <a:endParaRPr lang="en-US" sz="1800" dirty="0"/>
          </a:p>
        </p:txBody>
      </p:sp>
      <p:sp>
        <p:nvSpPr>
          <p:cNvPr id="4" name="code panel"/>
          <p:cNvSpPr/>
          <p:nvPr/>
        </p:nvSpPr>
        <p:spPr>
          <a:xfrm>
            <a:off x="993530" y="1689880"/>
            <a:ext cx="3640015" cy="2377440"/>
          </a:xfrm>
          <a:prstGeom prst="roundRect">
            <a:avLst>
              <a:gd name="adj" fmla="val 2857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5" name="code text"/>
          <p:cNvSpPr txBox="1"/>
          <p:nvPr/>
        </p:nvSpPr>
        <p:spPr>
          <a:xfrm>
            <a:off x="594360" y="164592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6" name="bullets"/>
          <p:cNvSpPr txBox="1"/>
          <p:nvPr/>
        </p:nvSpPr>
        <p:spPr>
          <a:xfrm>
            <a:off x="5486400" y="1554480"/>
            <a:ext cx="32004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Fast_charge: 2 missing, filled with the median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Price: 51 missing (14%). It is a target, so these rows are not filled; the Price model uses the 309 cars with a known price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Car_name_link removed (text only)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0487" y="1837592"/>
            <a:ext cx="3086100" cy="208377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1: Checking Outliers (IQR Rule)</a:t>
            </a:r>
            <a:endParaRPr lang="en-US" sz="3000" dirty="0">
              <a:solidFill>
                <a:schemeClr val="tx1"/>
              </a:solidFill>
            </a:endParaRPr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3474720" cy="2779776"/>
        </p:xfrm>
        <a:graphic>
          <a:graphicData uri="http://schemas.openxmlformats.org/drawingml/2006/table">
            <a:tbl>
              <a:tblPr/>
              <a:tblGrid>
                <a:gridCol w="2194560"/>
                <a:gridCol w="1280160"/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Feature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Outliers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Battery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0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Efficiency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8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Fast_charge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3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Price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32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Range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Top_speed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5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Acceleration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00" dirty="0">
                          <a:solidFill>
                            <a:srgbClr val="16302B"/>
                          </a:solidFill>
                        </a:rPr>
                        <a:t>1</a:t>
                      </a:r>
                      <a:endParaRPr lang="en-US" sz="13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4297680" y="1188720"/>
            <a:ext cx="4389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Price has the most outliers (32): luxury and performance EVs.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These are genuine cars, not data-entry errors, so they were kept.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Random Forest and Decision Tree handle outliers well; Linear Regression is the most affected.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2: Data Visualization</a:t>
            </a:r>
            <a:endParaRPr lang="en-US" sz="3000" dirty="0">
              <a:solidFill>
                <a:schemeClr val="tx1"/>
              </a:solidFill>
            </a:endParaRPr>
          </a:p>
        </p:txBody>
      </p:sp>
      <p:pic>
        <p:nvPicPr>
          <p:cNvPr id="3" name="Price histogram" descr="Price histo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54034"/>
            <a:ext cx="4206240" cy="2704011"/>
          </a:xfrm>
          <a:prstGeom prst="rect">
            <a:avLst/>
          </a:prstGeom>
        </p:spPr>
      </p:pic>
      <p:pic>
        <p:nvPicPr>
          <p:cNvPr id="4" name="Range histogram" descr="Range histogram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54034"/>
            <a:ext cx="4206240" cy="2704011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/>
              <a:t>Price is right-skewed (a few very expensive cars); Range is spread between 135 and 685 km.</a:t>
            </a:r>
            <a:endParaRPr lang="en-US" sz="11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2: Correlation Matrix</a:t>
            </a:r>
            <a:endParaRPr lang="en-US" sz="3000" dirty="0">
              <a:solidFill>
                <a:schemeClr val="tx1"/>
              </a:solidFill>
            </a:endParaRPr>
          </a:p>
        </p:txBody>
      </p:sp>
      <p:pic>
        <p:nvPicPr>
          <p:cNvPr id="3" name="Correlation matrix" descr="Correlation matrix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" y="1051560"/>
            <a:ext cx="4320540" cy="384048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4937760" y="1188720"/>
            <a:ext cx="38404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Battery and Range: 0.88 (strongest link)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Top speed and Price: 0.76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Battery and Price: 0.70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Acceleration (0-100 s) is negatively related to Range (-0.74) and Top speed (-0.84)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Efficiency is weakly related to the others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2: Boxplots for Checking Outliers</a:t>
            </a:r>
            <a:endParaRPr lang="en-US" sz="3000" dirty="0">
              <a:solidFill>
                <a:schemeClr val="tx1"/>
              </a:solidFill>
            </a:endParaRPr>
          </a:p>
        </p:txBody>
      </p:sp>
      <p:pic>
        <p:nvPicPr>
          <p:cNvPr id="3" name="Boxplots" descr="Boxplot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848" y="1051560"/>
            <a:ext cx="5760720" cy="3520440"/>
          </a:xfrm>
          <a:prstGeom prst="rect">
            <a:avLst/>
          </a:prstGeom>
        </p:spPr>
      </p:pic>
      <p:sp>
        <p:nvSpPr>
          <p:cNvPr id="4" name="caption"/>
          <p:cNvSpPr txBox="1"/>
          <p:nvPr/>
        </p:nvSpPr>
        <p:spPr>
          <a:xfrm>
            <a:off x="457200" y="45720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/>
              <a:t>Dots above the whiskers are outlying values (for example very fast or very efficient cars).</a:t>
            </a:r>
            <a:endParaRPr lang="en-US" sz="11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chemeClr val="tx1"/>
                </a:solidFill>
              </a:rPr>
              <a:t>10</a:t>
            </a:fld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2: Relationships Between Features</a:t>
            </a:r>
            <a:endParaRPr lang="en-US" sz="3000" dirty="0">
              <a:solidFill>
                <a:schemeClr val="tx1"/>
              </a:solidFill>
            </a:endParaRPr>
          </a:p>
        </p:txBody>
      </p:sp>
      <p:pic>
        <p:nvPicPr>
          <p:cNvPr id="3" name="Battery vs Range" descr="Battery vs R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54034"/>
            <a:ext cx="4206240" cy="2704011"/>
          </a:xfrm>
          <a:prstGeom prst="rect">
            <a:avLst/>
          </a:prstGeom>
        </p:spPr>
      </p:pic>
      <p:pic>
        <p:nvPicPr>
          <p:cNvPr id="4" name="Speed vs Price" descr="Speed vs Pri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54034"/>
            <a:ext cx="4206240" cy="2704011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/>
              <a:t>Bigger batteries give more range; faster cars cost more. Both trends are close to linear.</a:t>
            </a:r>
            <a:endParaRPr lang="en-US" sz="11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>
                <a:solidFill>
                  <a:schemeClr val="tx1"/>
                </a:solidFill>
              </a:rPr>
              <a:t>11</a:t>
            </a:fld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2: Price by Brand</a:t>
            </a:r>
            <a:endParaRPr lang="en-US" sz="3000" dirty="0">
              <a:solidFill>
                <a:schemeClr val="tx1"/>
              </a:solidFill>
            </a:endParaRPr>
          </a:p>
        </p:txBody>
      </p:sp>
      <p:pic>
        <p:nvPicPr>
          <p:cNvPr id="3" name="Brand average price" descr="Brand average pri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5120640" cy="3291840"/>
          </a:xfrm>
          <a:prstGeom prst="rect">
            <a:avLst/>
          </a:prstGeom>
        </p:spPr>
      </p:pic>
      <p:sp>
        <p:nvSpPr>
          <p:cNvPr id="4" name="bullets"/>
          <p:cNvSpPr txBox="1"/>
          <p:nvPr/>
        </p:nvSpPr>
        <p:spPr>
          <a:xfrm>
            <a:off x="5669280" y="137160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Brand was extracted from the first word of Car_name.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Only brands with 5 or more models are shown.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Premium brands sit far above the mass-market average.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3: Feature Engineering and Data Leakage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bullets"/>
          <p:cNvSpPr txBox="1"/>
          <p:nvPr/>
        </p:nvSpPr>
        <p:spPr>
          <a:xfrm>
            <a:off x="457200" y="1188720"/>
            <a:ext cx="4389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Brand: first word of Car_name (used for exploration).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Price_per_km: Price divided by Range (euros for each km of range).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Data leakage check: Range is almost exactly Battery x 1000 / Efficiency.</a:t>
            </a:r>
            <a:endParaRPr lang="en-US" sz="1600" dirty="0"/>
          </a:p>
        </p:txBody>
      </p:sp>
      <p:sp>
        <p:nvSpPr>
          <p:cNvPr id="4" name="code panel"/>
          <p:cNvSpPr/>
          <p:nvPr/>
        </p:nvSpPr>
        <p:spPr>
          <a:xfrm>
            <a:off x="457200" y="3399112"/>
            <a:ext cx="4389120" cy="1097280"/>
          </a:xfrm>
          <a:prstGeom prst="roundRect">
            <a:avLst>
              <a:gd name="adj" fmla="val 6667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5" name="code text"/>
          <p:cNvSpPr txBox="1"/>
          <p:nvPr/>
        </p:nvSpPr>
        <p:spPr>
          <a:xfrm>
            <a:off x="594360" y="3490552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6" name="leakage card"/>
          <p:cNvSpPr/>
          <p:nvPr/>
        </p:nvSpPr>
        <p:spPr>
          <a:xfrm>
            <a:off x="5120640" y="1188720"/>
            <a:ext cx="3566160" cy="3474720"/>
          </a:xfrm>
          <a:prstGeom prst="roundRect">
            <a:avLst>
              <a:gd name="adj" fmla="val 2632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03520" y="1371600"/>
            <a:ext cx="3200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/>
              <a:t>Why this matters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/>
              <a:t>If Efficiency were used to predict Range, the model would almost get the answer for free and show a fake R-squared near 1.</a:t>
            </a:r>
          </a:p>
          <a:p>
            <a:pPr marL="0" indent="0">
              <a:buNone/>
            </a:pPr>
            <a:r>
              <a:rPr lang="en-US" sz="1400" dirty="0"/>
              <a:t>So the Range model does not use Efficiency. The Price model can use every specification.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635" y="3756480"/>
            <a:ext cx="4102401" cy="3825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4: Data Splitting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199" y="1026941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/>
              <a:t>80% of the data for training, 20% for testing</a:t>
            </a:r>
            <a:endParaRPr lang="en-US" sz="1800" dirty="0"/>
          </a:p>
        </p:txBody>
      </p:sp>
      <p:sp>
        <p:nvSpPr>
          <p:cNvPr id="4" name="code panel"/>
          <p:cNvSpPr/>
          <p:nvPr/>
        </p:nvSpPr>
        <p:spPr>
          <a:xfrm>
            <a:off x="1978269" y="1413808"/>
            <a:ext cx="5275386" cy="2076738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8229600" cy="1042416"/>
        </p:xfrm>
        <a:graphic>
          <a:graphicData uri="http://schemas.openxmlformats.org/drawingml/2006/table">
            <a:tbl>
              <a:tblPr/>
              <a:tblGrid>
                <a:gridCol w="822960"/>
                <a:gridCol w="1737360"/>
                <a:gridCol w="5669280"/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Inputs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302B"/>
                          </a:solidFill>
                        </a:rPr>
                        <a:t>A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302B"/>
                          </a:solidFill>
                        </a:rPr>
                        <a:t>Range (km)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302B"/>
                          </a:solidFill>
                        </a:rPr>
                        <a:t>Battery, Fast_charge, Top_speed, Acceleration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302B"/>
                          </a:solidFill>
                        </a:rPr>
                        <a:t>B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302B"/>
                          </a:solidFill>
                        </a:rPr>
                        <a:t>Price (euros)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dirty="0">
                          <a:solidFill>
                            <a:srgbClr val="16302B"/>
                          </a:solidFill>
                        </a:rPr>
                        <a:t>Battery, Efficiency, Fast_charge, Top_speed, Acceleration, Range</a:t>
                      </a:r>
                      <a:endParaRPr lang="en-US" sz="115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2908" y="1505247"/>
            <a:ext cx="4853354" cy="1897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Stage 5: Machine Learning Models Used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model card 1"/>
          <p:cNvSpPr/>
          <p:nvPr/>
        </p:nvSpPr>
        <p:spPr>
          <a:xfrm>
            <a:off x="457200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63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Linear Regression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lm()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42316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/>
              <a:t>Fits a straight-line equation. Simple and easy to interpret.</a:t>
            </a:r>
          </a:p>
        </p:txBody>
      </p:sp>
      <p:sp>
        <p:nvSpPr>
          <p:cNvPr id="7" name="model card 2"/>
          <p:cNvSpPr/>
          <p:nvPr/>
        </p:nvSpPr>
        <p:spPr>
          <a:xfrm>
            <a:off x="3273552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463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Decision Tree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rpart()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242316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/>
              <a:t>Splits the data with if-else rules. Captures non-linear patterns.</a:t>
            </a:r>
          </a:p>
        </p:txBody>
      </p:sp>
      <p:sp>
        <p:nvSpPr>
          <p:cNvPr id="11" name="model card 3"/>
          <p:cNvSpPr/>
          <p:nvPr/>
        </p:nvSpPr>
        <p:spPr>
          <a:xfrm>
            <a:off x="6089904" y="1280160"/>
            <a:ext cx="2606040" cy="2377440"/>
          </a:xfrm>
          <a:prstGeom prst="roundRect">
            <a:avLst>
              <a:gd name="adj" fmla="val 3846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72784" y="14630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272784" y="196596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ranger(), 300 trees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72784" y="242316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/>
              <a:t>Averages many trees. Usually the most accurate and stable.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Linear Regression: Range Model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code panel"/>
          <p:cNvSpPr/>
          <p:nvPr/>
        </p:nvSpPr>
        <p:spPr>
          <a:xfrm>
            <a:off x="668215" y="1097280"/>
            <a:ext cx="4528040" cy="3017520"/>
          </a:xfrm>
          <a:prstGeom prst="roundRect">
            <a:avLst>
              <a:gd name="adj" fmla="val 2424"/>
            </a:avLst>
          </a:prstGeom>
          <a:solidFill>
            <a:srgbClr val="F3F6F5"/>
          </a:solidFill>
          <a:ln w="12700">
            <a:solidFill>
              <a:srgbClr val="D5E2DD"/>
            </a:solidFill>
            <a:prstDash val="solid"/>
          </a:ln>
        </p:spPr>
      </p:sp>
      <p:sp>
        <p:nvSpPr>
          <p:cNvPr id="5" name="bullets"/>
          <p:cNvSpPr txBox="1"/>
          <p:nvPr/>
        </p:nvSpPr>
        <p:spPr>
          <a:xfrm>
            <a:off x="5486400" y="1188720"/>
            <a:ext cx="32004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Each extra kWh of battery adds about 3.6 km of range.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predictor is significant.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model explains about 87% of the variation in range on the training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16</a:t>
            </a:fld>
            <a:endParaRPr lang="en-US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4543" y="1357532"/>
            <a:ext cx="4095384" cy="24970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Range Prediction: Results on the Test Set</a:t>
            </a:r>
            <a:endParaRPr lang="en-US" sz="3000" dirty="0">
              <a:solidFill>
                <a:schemeClr val="tx1"/>
              </a:solidFill>
            </a:endParaRPr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7680960" cy="1389888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RMSE (km)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(km)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R-squared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Linear Regression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41.41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33.02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0.866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Decision Tree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43.43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33.59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0.852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26.56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18.11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0.945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Range actual vs predicted" descr="Range actual vs predic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51560"/>
            <a:ext cx="6858000" cy="2468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Price Prediction: Results on the Test Set</a:t>
            </a:r>
            <a:endParaRPr lang="en-US" sz="3000" dirty="0">
              <a:solidFill>
                <a:schemeClr val="tx1"/>
              </a:solidFill>
            </a:endParaRPr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611880"/>
          <a:ext cx="7680960" cy="1389888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645920"/>
                <a:gridCol w="1645920"/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RMSE (euros)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MAE (euros)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R-squared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Linear Regression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22,182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13,575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0.678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Decision Tree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17,504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11,237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0.800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16,272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9,014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0.827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rice actual vs predicted" descr="Price actual vs predict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051560"/>
            <a:ext cx="6858000" cy="24688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Random Forest: Feature Importance</a:t>
            </a:r>
            <a:endParaRPr lang="en-US" sz="3000" dirty="0">
              <a:solidFill>
                <a:schemeClr val="tx1"/>
              </a:solidFill>
            </a:endParaRPr>
          </a:p>
        </p:txBody>
      </p:sp>
      <p:pic>
        <p:nvPicPr>
          <p:cNvPr id="3" name="Range importance" descr="Range importanc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04257"/>
            <a:ext cx="4206240" cy="2403566"/>
          </a:xfrm>
          <a:prstGeom prst="rect">
            <a:avLst/>
          </a:prstGeom>
        </p:spPr>
      </p:pic>
      <p:pic>
        <p:nvPicPr>
          <p:cNvPr id="4" name="Price importance" descr="Price import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404257"/>
            <a:ext cx="4206240" cy="2403566"/>
          </a:xfrm>
          <a:prstGeom prst="rect">
            <a:avLst/>
          </a:prstGeom>
        </p:spPr>
      </p:pic>
      <p:sp>
        <p:nvSpPr>
          <p:cNvPr id="5" name="caption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/>
              <a:t>Battery capacity is the most important feature for both Range and Price. Top speed is second for Price.</a:t>
            </a:r>
            <a:endParaRPr lang="en-US" sz="1100" b="1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Comparison of Models</a:t>
            </a:r>
            <a:endParaRPr lang="en-US" sz="3000" dirty="0">
              <a:solidFill>
                <a:schemeClr val="tx1"/>
              </a:solidFill>
            </a:endParaRPr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173736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371600"/>
                <a:gridCol w="1737360"/>
                <a:gridCol w="2468880"/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Test R-squared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5-fold CV R-squared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Comments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Range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Linear Regression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0.866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0.871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Good, but misses curves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Range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0.945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0.933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Best and stable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Price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Linear Regression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0.678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0.719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Weakest, hurt by outliers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Price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Random Forest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0.827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0.885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16302B"/>
                          </a:solidFill>
                        </a:rPr>
                        <a:t>Best and stable</a:t>
                      </a:r>
                      <a:endParaRPr lang="en-US" sz="1200" dirty="0"/>
                    </a:p>
                  </a:txBody>
                  <a:tcPr marT="36576" marB="36576" anchor="ctr">
                    <a:lnL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F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EF"/>
                    </a:solidFill>
                  </a:tcPr>
                </a:tc>
              </a:tr>
            </a:tbl>
          </a:graphicData>
        </a:graphic>
      </p:graphicFrame>
      <p:sp>
        <p:nvSpPr>
          <p:cNvPr id="4" name="bullets"/>
          <p:cNvSpPr txBox="1"/>
          <p:nvPr/>
        </p:nvSpPr>
        <p:spPr>
          <a:xfrm>
            <a:off x="457200" y="32918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5-fold cross-validation gives similar scores to the single test split, so the results are not a lucky split.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Decision Tree: R-squared 0.852 (Range) and 0.800 (Price), between the other two models.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</a:rPr>
              <a:t>Results and Discussion</a:t>
            </a:r>
            <a:endParaRPr lang="en-US" sz="3000" dirty="0">
              <a:solidFill>
                <a:schemeClr val="tx1"/>
              </a:solidFill>
            </a:endParaRPr>
          </a:p>
        </p:txBody>
      </p:sp>
      <p:sp>
        <p:nvSpPr>
          <p:cNvPr id="3" name="bullets"/>
          <p:cNvSpPr txBox="1"/>
          <p:nvPr/>
        </p:nvSpPr>
        <p:spPr>
          <a:xfrm>
            <a:off x="457200" y="1097280"/>
            <a:ext cx="8229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 is the most reliable model for both targets.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Battery capacity is the strongest driver of both range and price.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Price is harder to predict than range: brand, design and market positioning also affect price but are not in the dataset.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Range model leaves out Efficiency to avoid data leakage, so the scores are realistic, not a suspicious perfect fit.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Limitations: only 360 cars, and 51 cars have no price.</a:t>
            </a:r>
            <a:endParaRPr lang="en-US" sz="1400" dirty="0"/>
          </a:p>
        </p:txBody>
      </p:sp>
      <p:sp>
        <p:nvSpPr>
          <p:cNvPr id="4" name="stat card 1"/>
          <p:cNvSpPr/>
          <p:nvPr/>
        </p:nvSpPr>
        <p:spPr>
          <a:xfrm>
            <a:off x="457200" y="3657600"/>
            <a:ext cx="19202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3703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0.945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Range R-squared</a:t>
            </a:r>
            <a:endParaRPr lang="en-US" sz="1200" dirty="0"/>
          </a:p>
        </p:txBody>
      </p:sp>
      <p:sp>
        <p:nvSpPr>
          <p:cNvPr id="7" name="stat card 2"/>
          <p:cNvSpPr/>
          <p:nvPr/>
        </p:nvSpPr>
        <p:spPr>
          <a:xfrm>
            <a:off x="2542032" y="3657600"/>
            <a:ext cx="19202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42032" y="3703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26.6 km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2542032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Range RMSE</a:t>
            </a:r>
            <a:endParaRPr lang="en-US" sz="1200" dirty="0"/>
          </a:p>
        </p:txBody>
      </p:sp>
      <p:sp>
        <p:nvSpPr>
          <p:cNvPr id="10" name="stat card 3"/>
          <p:cNvSpPr/>
          <p:nvPr/>
        </p:nvSpPr>
        <p:spPr>
          <a:xfrm>
            <a:off x="4626864" y="3657600"/>
            <a:ext cx="19202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26864" y="3703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0.827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4626864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Price R-squared</a:t>
            </a:r>
            <a:endParaRPr lang="en-US" sz="1200" dirty="0"/>
          </a:p>
        </p:txBody>
      </p:sp>
      <p:sp>
        <p:nvSpPr>
          <p:cNvPr id="13" name="stat card 4"/>
          <p:cNvSpPr/>
          <p:nvPr/>
        </p:nvSpPr>
        <p:spPr>
          <a:xfrm>
            <a:off x="6711696" y="3657600"/>
            <a:ext cx="192024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rgbClr val="CFE0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11696" y="37033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16,272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6711696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chemeClr val="tx1"/>
                </a:solidFill>
              </a:rPr>
              <a:t>Price RMSE (euros)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and Future Work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Conclusion</a:t>
            </a:r>
            <a:endParaRPr lang="en-US" sz="2000" dirty="0"/>
          </a:p>
        </p:txBody>
      </p:sp>
      <p:sp>
        <p:nvSpPr>
          <p:cNvPr id="4" name="bullets"/>
          <p:cNvSpPr txBox="1"/>
          <p:nvPr/>
        </p:nvSpPr>
        <p:spPr>
          <a:xfrm>
            <a:off x="457200" y="1600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Built an end-to-end R pipeline: cleaning, visualization, splitting, three models and evaluation.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Random Forest predicts range within about 27 km and explains 94.5% of the variation.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11430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Future work</a:t>
            </a:r>
            <a:endParaRPr lang="en-US" sz="2000" dirty="0"/>
          </a:p>
        </p:txBody>
      </p:sp>
      <p:sp>
        <p:nvSpPr>
          <p:cNvPr id="6" name="bullets"/>
          <p:cNvSpPr txBox="1"/>
          <p:nvPr/>
        </p:nvSpPr>
        <p:spPr>
          <a:xfrm>
            <a:off x="4754880" y="1600200"/>
            <a:ext cx="39319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brand, weight and body type as features.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Try gradient boosting (XGBoost) and tune hyper-parameters.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Build a Shiny app where a user enters specifications and gets the predicted range and price.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/>
          </p:nvPr>
        </p:nvSpPr>
        <p:spPr>
          <a:xfrm>
            <a:off x="640080" y="13716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b="1" dirty="0">
                <a:solidFill>
                  <a:schemeClr val="tx1"/>
                </a:solidFill>
              </a:rPr>
              <a:t>Project Reference</a:t>
            </a:r>
            <a:endParaRPr lang="en-US" sz="3800" dirty="0">
              <a:solidFill>
                <a:schemeClr val="tx1"/>
              </a:solidFill>
            </a:endParaRPr>
          </a:p>
        </p:txBody>
      </p:sp>
      <p:sp>
        <p:nvSpPr>
          <p:cNvPr id="3" name="Text 0"/>
          <p:cNvSpPr>
            <a:spLocks noGrp="1"/>
          </p:cNvSpPr>
          <p:nvPr>
            <p:ph type="body" idx="101"/>
          </p:nvPr>
        </p:nvSpPr>
        <p:spPr>
          <a:xfrm>
            <a:off x="640080" y="2565596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GitHub:</a:t>
            </a:r>
            <a:endParaRPr lang="en-US" sz="16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1600" u="sng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https://github.com/&lt;your-username&gt;/ev-price-range-prediction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chemeClr val="bg2"/>
                </a:solidFill>
              </a:rPr>
              <a:t> </a:t>
            </a:r>
            <a:endParaRPr lang="en-US" sz="1600" dirty="0"/>
          </a:p>
          <a:p>
            <a:pPr marL="0" indent="0" algn="ctr">
              <a:buNone/>
            </a:pPr>
            <a:r>
              <a:rPr lang="en-US" sz="2400" b="1" dirty="0">
                <a:solidFill>
                  <a:schemeClr val="tx1"/>
                </a:solidFill>
              </a:rPr>
              <a:t>THANK YOU!!!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EV Green">
  <a:themeElements>
    <a:clrScheme name="EV Green">
      <a:dk1>
        <a:srgbClr val="16302B"/>
      </a:dk1>
      <a:lt1>
        <a:srgbClr val="FFFFFF"/>
      </a:lt1>
      <a:dk2>
        <a:srgbClr val="0E4A3A"/>
      </a:dk2>
      <a:lt2>
        <a:srgbClr val="EAF3EF"/>
      </a:lt2>
      <a:accent1>
        <a:srgbClr val="2A7F62"/>
      </a:accent1>
      <a:accent2>
        <a:srgbClr val="1F6F8B"/>
      </a:accent2>
      <a:accent3>
        <a:srgbClr val="C0392B"/>
      </a:accent3>
      <a:accent4>
        <a:srgbClr val="E0A030"/>
      </a:accent4>
      <a:accent5>
        <a:srgbClr val="5F877B"/>
      </a:accent5>
      <a:accent6>
        <a:srgbClr val="3D5A80"/>
      </a:accent6>
      <a:hlink>
        <a:srgbClr val="1F6F8B"/>
      </a:hlink>
      <a:folHlink>
        <a:srgbClr val="5F877B"/>
      </a:folHlink>
    </a:clrScheme>
    <a:fontScheme name="EV Gree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507</TotalTime>
  <Words>1123</Words>
  <Application>Microsoft Office PowerPoint</Application>
  <PresentationFormat>On-screen Show (16:9)</PresentationFormat>
  <Paragraphs>229</Paragraphs>
  <Slides>23</Slides>
  <Notes>23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EV Green</vt:lpstr>
      <vt:lpstr>Electric Vehicle Price and Range Prediction Using R</vt:lpstr>
      <vt:lpstr>Problem Statement</vt:lpstr>
      <vt:lpstr>Loading Dataset</vt:lpstr>
      <vt:lpstr>Anatomy of our Dataset</vt:lpstr>
      <vt:lpstr>Structure and Summary of the Dataset</vt:lpstr>
      <vt:lpstr>Stage 1: Data Cleaning</vt:lpstr>
      <vt:lpstr>Stage 1: Checking Outliers (IQR Rule)</vt:lpstr>
      <vt:lpstr>Stage 2: Data Visualization</vt:lpstr>
      <vt:lpstr>Stage 2: Correlation Matrix</vt:lpstr>
      <vt:lpstr>Stage 2: Boxplots for Checking Outliers</vt:lpstr>
      <vt:lpstr>Stage 2: Relationships Between Features</vt:lpstr>
      <vt:lpstr>Stage 2: Price by Brand</vt:lpstr>
      <vt:lpstr>Stage 3: Feature Engineering and Data Leakage</vt:lpstr>
      <vt:lpstr>Stage 4: Data Splitting</vt:lpstr>
      <vt:lpstr>Stage 5: Machine Learning Models Used</vt:lpstr>
      <vt:lpstr>Linear Regression: Range Model</vt:lpstr>
      <vt:lpstr>Range Prediction: Results on the Test Set</vt:lpstr>
      <vt:lpstr>Price Prediction: Results on the Test Set</vt:lpstr>
      <vt:lpstr>Random Forest: Feature Importance</vt:lpstr>
      <vt:lpstr>Comparison of Models</vt:lpstr>
      <vt:lpstr>Results and Discussion</vt:lpstr>
      <vt:lpstr>Conclusion and Future Work</vt:lpstr>
      <vt:lpstr>Project Reference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Electric Vehicle Price and Range Prediction Using R</dc:title>
  <dc:subject>PptxGenJS Presentation</dc:subject>
  <dc:creator>Kavipriyadharsan P</dc:creator>
  <cp:lastModifiedBy>ADMIN</cp:lastModifiedBy>
  <cp:revision>15</cp:revision>
  <dcterms:created xsi:type="dcterms:W3CDTF">2026-10-07T06:20:24Z</dcterms:created>
  <dcterms:modified xsi:type="dcterms:W3CDTF">2026-10-07T17:02:11Z</dcterms:modified>
</cp:coreProperties>
</file>